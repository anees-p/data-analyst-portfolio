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0" r:id="rId3"/>
    <p:sldId id="257" r:id="rId4"/>
    <p:sldId id="258" r:id="rId5"/>
    <p:sldId id="260" r:id="rId6"/>
    <p:sldId id="259" r:id="rId7"/>
    <p:sldId id="261" r:id="rId8"/>
    <p:sldId id="262" r:id="rId9"/>
    <p:sldId id="264" r:id="rId10"/>
    <p:sldId id="265" r:id="rId11"/>
    <p:sldId id="266" r:id="rId12"/>
    <p:sldId id="267" r:id="rId13"/>
    <p:sldId id="263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33"/>
    <a:srgbClr val="FFCC99"/>
    <a:srgbClr val="FF7C80"/>
    <a:srgbClr val="FF9999"/>
    <a:srgbClr val="FFCCFF"/>
    <a:srgbClr val="FF99CC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1242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92E38-ED14-19C4-E0E9-56307806E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4CFC5A-5651-2BE2-DA46-42899701A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B14374-E7EA-AC4E-AE44-0DF6199F0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256C3-791B-F159-C0D4-A9CFBF3522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829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7A1E3D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C98A3B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800100" y="4319505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  ·  PROMOTIONS &amp; PRICE ELASTICITY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Promotions &amp; Price Elasticity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Intelligence System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03118" y="3902129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7EF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Excel, SQL, Python and Power BI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25400">
            <a:solidFill>
              <a:srgbClr val="C98A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594360" y="5467695"/>
            <a:ext cx="9601200" cy="78555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0100" y="4907969"/>
            <a:ext cx="9601200" cy="7855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8A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Presented by -</a:t>
            </a:r>
            <a:r>
              <a:rPr lang="en-US" sz="16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Anees P</a:t>
            </a:r>
          </a:p>
          <a:p>
            <a:r>
              <a:rPr lang="en-US" sz="1600" b="1" dirty="0">
                <a:solidFill>
                  <a:srgbClr val="C98A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Batch code</a:t>
            </a:r>
            <a:r>
              <a:rPr lang="en-IN" sz="16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BMAI-S-WE-T-B49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12C58-1AA2-3F4E-879A-0A4FC4D54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4AEC40E-80E1-0B6C-0C9A-16C40553D3E7}"/>
              </a:ext>
            </a:extLst>
          </p:cNvPr>
          <p:cNvSpPr txBox="1"/>
          <p:nvPr/>
        </p:nvSpPr>
        <p:spPr>
          <a:xfrm>
            <a:off x="202899" y="48115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60033"/>
                </a:solidFill>
                <a:latin typeface="Cambria" pitchFamily="34" charset="0"/>
                <a:ea typeface="Cambria" pitchFamily="34" charset="-122"/>
              </a:rPr>
              <a:t>Project Overview</a:t>
            </a:r>
            <a:endParaRPr lang="en-US" sz="2000" dirty="0">
              <a:solidFill>
                <a:srgbClr val="660033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04D2663-3953-3202-C169-85396D3F5308}"/>
              </a:ext>
            </a:extLst>
          </p:cNvPr>
          <p:cNvSpPr/>
          <p:nvPr/>
        </p:nvSpPr>
        <p:spPr>
          <a:xfrm>
            <a:off x="202899" y="1029499"/>
            <a:ext cx="11734800" cy="1582901"/>
          </a:xfrm>
          <a:prstGeom prst="rect">
            <a:avLst/>
          </a:prstGeom>
          <a:solidFill>
            <a:srgbClr val="F7EF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76A981F-77FE-8EEF-427A-8361732010CC}"/>
              </a:ext>
            </a:extLst>
          </p:cNvPr>
          <p:cNvSpPr txBox="1"/>
          <p:nvPr/>
        </p:nvSpPr>
        <p:spPr>
          <a:xfrm>
            <a:off x="228600" y="1028964"/>
            <a:ext cx="11189044" cy="1582900"/>
          </a:xfrm>
          <a:prstGeom prst="rect">
            <a:avLst/>
          </a:prstGeom>
          <a:noFill/>
          <a:ln/>
        </p:spPr>
        <p:txBody>
          <a:bodyPr wrap="square" numCol="1" rtlCol="0" anchor="t"/>
          <a:lstStyle/>
          <a:p>
            <a:pPr algn="just"/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This project builds a data-driven analytics solution that can: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Measure promotion effectiveness across stores, brands and products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Estimate price elasticity using regression analysis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Identify which brands or products should continue running promotions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Analyse sales and profit trends across time, stores and categories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Visualize insights and KPIs through an interactive Power BI dashboard</a:t>
            </a: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F3EE3EC-F855-A1EA-CDE4-1F58C617F3A6}"/>
              </a:ext>
            </a:extLst>
          </p:cNvPr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4632DFDC-6384-1168-6EAE-1B529C646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0580012"/>
              </p:ext>
            </p:extLst>
          </p:nvPr>
        </p:nvGraphicFramePr>
        <p:xfrm>
          <a:off x="202899" y="2716960"/>
          <a:ext cx="11734800" cy="35661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911600">
                  <a:extLst>
                    <a:ext uri="{9D8B030D-6E8A-4147-A177-3AD203B41FA5}">
                      <a16:colId xmlns:a16="http://schemas.microsoft.com/office/drawing/2014/main" val="2413303104"/>
                    </a:ext>
                  </a:extLst>
                </a:gridCol>
                <a:gridCol w="3911600">
                  <a:extLst>
                    <a:ext uri="{9D8B030D-6E8A-4147-A177-3AD203B41FA5}">
                      <a16:colId xmlns:a16="http://schemas.microsoft.com/office/drawing/2014/main" val="4013998440"/>
                    </a:ext>
                  </a:extLst>
                </a:gridCol>
                <a:gridCol w="3911600">
                  <a:extLst>
                    <a:ext uri="{9D8B030D-6E8A-4147-A177-3AD203B41FA5}">
                      <a16:colId xmlns:a16="http://schemas.microsoft.com/office/drawing/2014/main" val="2750534504"/>
                    </a:ext>
                  </a:extLst>
                </a:gridCol>
              </a:tblGrid>
              <a:tr h="30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Domain</a:t>
                      </a:r>
                    </a:p>
                  </a:txBody>
                  <a:tcPr anchor="ctr">
                    <a:solidFill>
                      <a:srgbClr val="660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Table</a:t>
                      </a:r>
                    </a:p>
                  </a:txBody>
                  <a:tcPr anchor="ctr">
                    <a:solidFill>
                      <a:srgbClr val="6600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rgbClr val="6600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315944"/>
                  </a:ext>
                </a:extLst>
              </a:tr>
              <a:tr h="488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Sales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POS_Data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114,478 point-of-sale transactions across 5 stores, 52 weeks of 2023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357379"/>
                  </a:ext>
                </a:extLst>
              </a:tr>
              <a:tr h="488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Product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Products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9 SKUs across 3 categories (TV, Laptop, Headphones)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1814416"/>
                  </a:ext>
                </a:extLst>
              </a:tr>
              <a:tr h="488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Brand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Brands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 electronics brands: Volt Tech, Nova Sound, Clearview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6571654"/>
                  </a:ext>
                </a:extLst>
              </a:tr>
              <a:tr h="488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Promotion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Promo_plan_2023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Weekly promotional plan, price tier per product per week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029380"/>
                  </a:ext>
                </a:extLst>
              </a:tr>
              <a:tr h="3069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Pricing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Promo_prices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 price tiers per product: SDV, MRP, P1–P4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490710"/>
                  </a:ext>
                </a:extLst>
              </a:tr>
              <a:tr h="488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Store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Stores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 stores, 2 formats (Large-format Retailers, Mall Outlets)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204056"/>
                  </a:ext>
                </a:extLst>
              </a:tr>
            </a:tbl>
          </a:graphicData>
        </a:graphic>
      </p:graphicFrame>
      <p:sp>
        <p:nvSpPr>
          <p:cNvPr id="38" name="Text 0">
            <a:extLst>
              <a:ext uri="{FF2B5EF4-FFF2-40B4-BE49-F238E27FC236}">
                <a16:creationId xmlns:a16="http://schemas.microsoft.com/office/drawing/2014/main" id="{EDB5E137-D604-C46B-B579-53014FD2DDC8}"/>
              </a:ext>
            </a:extLst>
          </p:cNvPr>
          <p:cNvSpPr txBox="1"/>
          <p:nvPr/>
        </p:nvSpPr>
        <p:spPr>
          <a:xfrm>
            <a:off x="228600" y="71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BUSINESS CONTEXT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93114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solidFill>
            <a:srgbClr val="F7EF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68680" y="1691640"/>
            <a:ext cx="4892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3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electronics manufacturing company sells TVs, Laptops and Headphones under three brands, through multiple retail stores. It runs frequent promotional campaigns — but management cannot clearly see how those promotions affect sales performance and profitability.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7947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A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81039" y="465201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37947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A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069759" y="465201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223878" y="38176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A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45491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SKUs(products) across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categories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870878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98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447199" y="4549140"/>
            <a:ext cx="143956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of 2023 POS data (114,478 transactions)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141732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7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QUESTIONS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0" y="1856232"/>
            <a:ext cx="310896" cy="310896"/>
          </a:xfrm>
          <a:prstGeom prst="ellipse">
            <a:avLst/>
          </a:prstGeom>
          <a:solidFill>
            <a:srgbClr val="7A1E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400800" y="18562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7830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promotions and discount levels drive the most sales?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2569464"/>
            <a:ext cx="310896" cy="310896"/>
          </a:xfrm>
          <a:prstGeom prst="ellipse">
            <a:avLst/>
          </a:prstGeom>
          <a:solidFill>
            <a:srgbClr val="7A1E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400800" y="25694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249631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are price elastic vs inelastic?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0" y="3282696"/>
            <a:ext cx="310896" cy="310896"/>
          </a:xfrm>
          <a:prstGeom prst="ellipse">
            <a:avLst/>
          </a:prstGeom>
          <a:solidFill>
            <a:srgbClr val="7A1E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6400800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320954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sales uplift occurs during promotional weeks?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3995928"/>
            <a:ext cx="310896" cy="310896"/>
          </a:xfrm>
          <a:prstGeom prst="ellipse">
            <a:avLst/>
          </a:prstGeom>
          <a:solidFill>
            <a:srgbClr val="7A1E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400800" y="39959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392277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discounts affect profit margins by brand and product?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0" y="4709160"/>
            <a:ext cx="310896" cy="310896"/>
          </a:xfrm>
          <a:prstGeom prst="ellipse">
            <a:avLst/>
          </a:prstGeom>
          <a:solidFill>
            <a:srgbClr val="7A1E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6400800" y="47091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463600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categories and brands are most profitable?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0" y="5422392"/>
            <a:ext cx="310896" cy="310896"/>
          </a:xfrm>
          <a:prstGeom prst="ellipse">
            <a:avLst/>
          </a:prstGeom>
          <a:solidFill>
            <a:srgbClr val="7A1E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6400800" y="5422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0" y="53492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are the top-selling stores and products?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6" name="Text 0">
            <a:extLst>
              <a:ext uri="{FF2B5EF4-FFF2-40B4-BE49-F238E27FC236}">
                <a16:creationId xmlns:a16="http://schemas.microsoft.com/office/drawing/2014/main" id="{6F1F416E-EC07-4421-09BD-15A1D1E1F324}"/>
              </a:ext>
            </a:extLst>
          </p:cNvPr>
          <p:cNvSpPr txBox="1"/>
          <p:nvPr/>
        </p:nvSpPr>
        <p:spPr>
          <a:xfrm>
            <a:off x="594979" y="685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BUSINESS CONTEXT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Four-Phase Approach</a:t>
            </a:r>
            <a:endParaRPr lang="en-US" sz="2800" dirty="0">
              <a:solidFill>
                <a:srgbClr val="660033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3291840"/>
          </a:xfrm>
          <a:prstGeom prst="rect">
            <a:avLst/>
          </a:prstGeom>
          <a:solidFill>
            <a:srgbClr val="F7EF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06040" cy="109728"/>
          </a:xfrm>
          <a:prstGeom prst="rect">
            <a:avLst/>
          </a:prstGeom>
          <a:solidFill>
            <a:srgbClr val="7A1E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718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7472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validate data, confirm pricing hierarchy (SDV&lt;P4&lt;P3&lt;P2&lt;P1&lt;MRP), pivot exploration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154680" y="333756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83280" y="2011680"/>
            <a:ext cx="2606040" cy="3291840"/>
          </a:xfrm>
          <a:prstGeom prst="rect">
            <a:avLst/>
          </a:prstGeom>
          <a:solidFill>
            <a:srgbClr val="F7EF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383280" y="2011680"/>
            <a:ext cx="2606040" cy="109728"/>
          </a:xfrm>
          <a:prstGeom prst="rect">
            <a:avLst/>
          </a:prstGeom>
          <a:solidFill>
            <a:srgbClr val="B23A5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3611880" y="2331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2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29718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47472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schema, ER diagram, analytical queries, 6 views for Power BI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333756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2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17920" y="2011680"/>
            <a:ext cx="2606040" cy="3291840"/>
          </a:xfrm>
          <a:prstGeom prst="rect">
            <a:avLst/>
          </a:prstGeom>
          <a:solidFill>
            <a:srgbClr val="F7EF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217920" y="2011680"/>
            <a:ext cx="2606040" cy="109728"/>
          </a:xfrm>
          <a:prstGeom prst="rect">
            <a:avLst/>
          </a:prstGeom>
          <a:solidFill>
            <a:srgbClr val="C98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446520" y="2331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8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29718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47472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Log-log regression per product: log(Units) = a + b·log(Price)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823960" y="333756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52560" y="2011680"/>
            <a:ext cx="2606040" cy="3291840"/>
          </a:xfrm>
          <a:prstGeom prst="rect">
            <a:avLst/>
          </a:prstGeom>
          <a:solidFill>
            <a:srgbClr val="F7EF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052560" y="2011680"/>
            <a:ext cx="2606040" cy="109728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9281160" y="2331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9281160" y="297180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347472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dashboard, DAX measures, slicers, storytelling across 7 pages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40" name="Text 0">
            <a:extLst>
              <a:ext uri="{FF2B5EF4-FFF2-40B4-BE49-F238E27FC236}">
                <a16:creationId xmlns:a16="http://schemas.microsoft.com/office/drawing/2014/main" id="{092AE312-4900-5932-865F-D36506D3F574}"/>
              </a:ext>
            </a:extLst>
          </p:cNvPr>
          <p:cNvSpPr txBox="1"/>
          <p:nvPr/>
        </p:nvSpPr>
        <p:spPr>
          <a:xfrm>
            <a:off x="548640" y="24688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Tools 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EXCEL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&amp; Exploration</a:t>
            </a:r>
            <a:endParaRPr lang="en-US" sz="2800" dirty="0">
              <a:solidFill>
                <a:srgbClr val="660033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3152" cy="502920"/>
          </a:xfrm>
          <a:prstGeom prst="rect">
            <a:avLst/>
          </a:prstGeom>
          <a:solidFill>
            <a:srgbClr val="C98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155448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Loaded Products, Brands, Promotions, Stores and POS datasets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73152" cy="502920"/>
          </a:xfrm>
          <a:prstGeom prst="rect">
            <a:avLst/>
          </a:prstGeom>
          <a:solidFill>
            <a:srgbClr val="C98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777240" y="221284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Checked for missing values and duplicate entries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2871216"/>
            <a:ext cx="73152" cy="502920"/>
          </a:xfrm>
          <a:prstGeom prst="rect">
            <a:avLst/>
          </a:prstGeom>
          <a:solidFill>
            <a:srgbClr val="C98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77240" y="2871216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Verified pricing hierarchy: SDV &lt; P4 &lt; P3 &lt; P2 &lt; P1 &lt; MRP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529584"/>
            <a:ext cx="73152" cy="502920"/>
          </a:xfrm>
          <a:prstGeom prst="rect">
            <a:avLst/>
          </a:prstGeom>
          <a:solidFill>
            <a:srgbClr val="C98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77240" y="3529584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Built pivot tables: sales by product/brand/store, discount vs. volume, top performers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4187952"/>
            <a:ext cx="73152" cy="502920"/>
          </a:xfrm>
          <a:prstGeom prst="rect">
            <a:avLst/>
          </a:prstGeom>
          <a:solidFill>
            <a:srgbClr val="C98A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77240" y="418795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zero-unit sales rows (4,863 rows) for downstream handling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983480"/>
            <a:ext cx="5623560" cy="1417320"/>
          </a:xfrm>
          <a:prstGeom prst="rect">
            <a:avLst/>
          </a:prstGeom>
          <a:solidFill>
            <a:srgbClr val="F7EFE9"/>
          </a:solidFill>
          <a:ln/>
        </p:spPr>
        <p:txBody>
          <a:bodyPr/>
          <a:lstStyle/>
          <a:p>
            <a:endParaRPr lang="en-IN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77240" y="51023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METRICS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413248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3A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Discount % = (MRP − Price) / MRP × 100
Revenue = POS_Units × Price
Margin = (Price − SDV) × POS_Units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FACF08B-CBE6-642E-6925-AB97424F5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998" y="1179576"/>
            <a:ext cx="5394960" cy="235000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A09F69E5-11EC-2CE7-0E2E-B368CA69D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998" y="4385918"/>
            <a:ext cx="5394960" cy="235000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EAE03F5-021C-346D-A7A4-C35259D580F0}"/>
              </a:ext>
            </a:extLst>
          </p:cNvPr>
          <p:cNvSpPr txBox="1"/>
          <p:nvPr/>
        </p:nvSpPr>
        <p:spPr>
          <a:xfrm>
            <a:off x="8073224" y="4034063"/>
            <a:ext cx="2730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srgbClr val="6600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DERIVED METRICS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598553-716E-749E-E2D0-C394D01637D5}"/>
              </a:ext>
            </a:extLst>
          </p:cNvPr>
          <p:cNvSpPr txBox="1"/>
          <p:nvPr/>
        </p:nvSpPr>
        <p:spPr>
          <a:xfrm>
            <a:off x="8073225" y="706296"/>
            <a:ext cx="2730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solidFill>
                  <a:srgbClr val="660033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PIVOT TABLES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DATA MODELLING-MYSQL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 (ER Diagram</a:t>
            </a:r>
            <a:r>
              <a:rPr lang="en-US" sz="2800" b="1" dirty="0">
                <a:solidFill>
                  <a:srgbClr val="3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087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A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source tables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1168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Brands  </a:t>
            </a:r>
            <a:r>
              <a:rPr lang="en-US" sz="1400" dirty="0">
                <a:solidFill>
                  <a:srgbClr val="5B5B5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Brand_ID, Brand_Name, Country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548640" y="2587752"/>
            <a:ext cx="6035040" cy="4080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Stores  </a:t>
            </a:r>
            <a:r>
              <a:rPr lang="en-US" sz="1400" dirty="0" err="1">
                <a:solidFill>
                  <a:srgbClr val="5B5B5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Store_ID</a:t>
            </a:r>
            <a:r>
              <a:rPr lang="en-US" sz="1400" dirty="0">
                <a:solidFill>
                  <a:srgbClr val="5B5B5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, Region, State, City, </a:t>
            </a:r>
            <a:r>
              <a:rPr lang="en-US" sz="1400" dirty="0" err="1">
                <a:solidFill>
                  <a:srgbClr val="5B5B5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Store_Type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48640" y="3163824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Products  </a:t>
            </a:r>
            <a:r>
              <a:rPr lang="en-US" sz="1400" dirty="0">
                <a:solidFill>
                  <a:srgbClr val="5B5B5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Product_ID, Brand_ID (FK), Category, Subcategory, MRP, SDV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548640" y="3739896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Promo_prices  </a:t>
            </a:r>
            <a:r>
              <a:rPr lang="en-US" sz="1400" dirty="0">
                <a:solidFill>
                  <a:srgbClr val="5B5B5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Product_ID, Price_Level (SDV/MRP/P1-P4), Price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548640" y="439196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Promo_plan_2023  </a:t>
            </a:r>
            <a:r>
              <a:rPr lang="en-US" sz="1400" dirty="0">
                <a:solidFill>
                  <a:srgbClr val="5B5B5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Week_num, Week_Start/End, Product_ID, Price_Level, Holiday_Type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548640" y="5050392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POS_data  </a:t>
            </a:r>
            <a:r>
              <a:rPr lang="en-US" sz="1400" dirty="0">
                <a:solidFill>
                  <a:srgbClr val="5B5B5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Transaction_id, Sale_Date, Week_num, Store_ID, Product_ID, POS_Units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A1D5E35-37B1-A9FD-B05A-BCF789B46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836676"/>
            <a:ext cx="5344570" cy="56555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5622" y="10112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20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SQL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301752" y="3089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Modelling &amp; Analytical Queries</a:t>
            </a:r>
            <a:endParaRPr lang="en-US" sz="2800" dirty="0">
              <a:solidFill>
                <a:srgbClr val="660033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301752" y="808094"/>
            <a:ext cx="5760720" cy="11756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</a:p>
          <a:p>
            <a:pPr lvl="0"/>
            <a:r>
              <a:rPr lang="en-US" sz="1400" b="1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Sales performance by product, region and brand</a:t>
            </a:r>
            <a:endParaRPr lang="en-IN" sz="14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VoltTech Laptop X2 tops revenue: ₹25.17 Cr (1,55,886 units)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VoltTech TV X1 second: ₹16.53 Cr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All records show Region = South (single-region dataset)</a:t>
            </a:r>
          </a:p>
          <a:p>
            <a:pPr marL="0" indent="0">
              <a:buNone/>
            </a:pP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5BD6AD9-677C-E868-D900-B7914CD5D3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6728" r="56065"/>
          <a:stretch>
            <a:fillRect/>
          </a:stretch>
        </p:blipFill>
        <p:spPr>
          <a:xfrm>
            <a:off x="6757213" y="2046501"/>
            <a:ext cx="4402624" cy="130496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665F7BD-EC9B-2039-227A-5503A7D1DE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0942" r="29213"/>
          <a:stretch>
            <a:fillRect/>
          </a:stretch>
        </p:blipFill>
        <p:spPr>
          <a:xfrm>
            <a:off x="301752" y="1884037"/>
            <a:ext cx="5352784" cy="149134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40E3E13-EE3B-ECCB-EAEC-0FCB793995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5676" r="25849"/>
          <a:stretch>
            <a:fillRect/>
          </a:stretch>
        </p:blipFill>
        <p:spPr>
          <a:xfrm>
            <a:off x="323919" y="4626887"/>
            <a:ext cx="4249424" cy="109763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34D592D-CC75-E71D-F022-B8A72483230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8099" r="29390"/>
          <a:stretch>
            <a:fillRect/>
          </a:stretch>
        </p:blipFill>
        <p:spPr>
          <a:xfrm>
            <a:off x="6757213" y="4355349"/>
            <a:ext cx="4405744" cy="1559739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A22CDF0-13A5-9A86-9FE8-861489F068ED}"/>
              </a:ext>
            </a:extLst>
          </p:cNvPr>
          <p:cNvSpPr txBox="1"/>
          <p:nvPr/>
        </p:nvSpPr>
        <p:spPr>
          <a:xfrm>
            <a:off x="301752" y="3429000"/>
            <a:ext cx="4893703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Average Discount, Revenue &amp; Gross Margin</a:t>
            </a: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VoltTech Headphones X3: lowest discount (8.12%), highest margin (₹2.66 Cr)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ClearView Headphones X9: highest discount (22.24%), still nets ₹51.4 L margin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32F50C4-B229-FA75-2E84-D35056931A4B}"/>
              </a:ext>
            </a:extLst>
          </p:cNvPr>
          <p:cNvSpPr txBox="1"/>
          <p:nvPr/>
        </p:nvSpPr>
        <p:spPr>
          <a:xfrm>
            <a:off x="6506928" y="868386"/>
            <a:ext cx="53833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Promotional vs Non-Promotional Weeks</a:t>
            </a: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Promotional weeks: ₹54.51 Cr revenue, 9,50,710 units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Non-promotional weeks: ₹39.50 Cr revenue, 5,13,039 units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Note: 30 promo weeks vs 22 non-promo weeks — raw totals, not per-week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5E3F8D-EE79-7217-483D-65F891AEB3E3}"/>
              </a:ext>
            </a:extLst>
          </p:cNvPr>
          <p:cNvSpPr txBox="1"/>
          <p:nvPr/>
        </p:nvSpPr>
        <p:spPr>
          <a:xfrm>
            <a:off x="6506928" y="3360031"/>
            <a:ext cx="518159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Weekly Revenue Trend</a:t>
            </a:r>
            <a:endParaRPr lang="en-IN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Revenue steady: ₹1.78–1.93 Cr per week (weeks 1-5 shown)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Units fluctuate more than revenue week to week</a:t>
            </a:r>
          </a:p>
        </p:txBody>
      </p:sp>
      <p:sp>
        <p:nvSpPr>
          <p:cNvPr id="35" name="Shape 8">
            <a:extLst>
              <a:ext uri="{FF2B5EF4-FFF2-40B4-BE49-F238E27FC236}">
                <a16:creationId xmlns:a16="http://schemas.microsoft.com/office/drawing/2014/main" id="{A8DF7843-0501-F9F2-9545-DC5EF89B21A0}"/>
              </a:ext>
            </a:extLst>
          </p:cNvPr>
          <p:cNvSpPr/>
          <p:nvPr/>
        </p:nvSpPr>
        <p:spPr>
          <a:xfrm>
            <a:off x="0" y="6252043"/>
            <a:ext cx="12166172" cy="548640"/>
          </a:xfrm>
          <a:prstGeom prst="rect">
            <a:avLst/>
          </a:prstGeom>
          <a:solidFill>
            <a:srgbClr val="F7EFE9"/>
          </a:solidFill>
          <a:ln/>
        </p:spPr>
        <p:txBody>
          <a:bodyPr/>
          <a:lstStyle/>
          <a:p>
            <a:r>
              <a:rPr lang="en-US" sz="1400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vw_sales_full, </a:t>
            </a:r>
            <a:r>
              <a:rPr lang="en-US" sz="1400" dirty="0" err="1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vw_sales_by_product_region_brand</a:t>
            </a:r>
            <a:r>
              <a:rPr lang="en-US" sz="1400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,  </a:t>
            </a:r>
            <a:r>
              <a:rPr lang="en-US" sz="1400" dirty="0" err="1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vw_promo_vs_nonpromo</a:t>
            </a:r>
            <a:r>
              <a:rPr lang="en-US" sz="1400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,  </a:t>
            </a:r>
            <a:r>
              <a:rPr lang="en-US" sz="1400" dirty="0" err="1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vw_weekly_revenue_trend</a:t>
            </a:r>
            <a:r>
              <a:rPr lang="en-US" sz="1400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,  </a:t>
            </a:r>
            <a:r>
              <a:rPr lang="en-US" sz="1400" dirty="0" err="1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vw_discount_revenue_margin</a:t>
            </a:r>
            <a:r>
              <a:rPr lang="en-US" sz="1400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, </a:t>
            </a:r>
            <a:r>
              <a:rPr lang="en-US" sz="1400" dirty="0" err="1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vw_monthly_revenue_trend</a:t>
            </a:r>
            <a:r>
              <a:rPr lang="en-US" sz="1400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ourier New" pitchFamily="34" charset="-120"/>
              </a:rPr>
              <a:t> .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All 6 views table connected directly to Power BI Integration</a:t>
            </a:r>
          </a:p>
          <a:p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PYTHON REGRESSION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Elasticity Estimation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solidFill>
            <a:srgbClr val="F7EF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1417320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 </a:t>
            </a:r>
            <a:r>
              <a:rPr lang="en-US" sz="1400" dirty="0">
                <a:solidFill>
                  <a:srgbClr val="3A12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log(Units Sold) = a + b · log(Price)      →   elastic if β &lt; −1,  inelastic if β &gt; −1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628621"/>
              </p:ext>
            </p:extLst>
          </p:nvPr>
        </p:nvGraphicFramePr>
        <p:xfrm>
          <a:off x="228602" y="2268474"/>
          <a:ext cx="7828003" cy="4022600"/>
        </p:xfrm>
        <a:graphic>
          <a:graphicData uri="http://schemas.openxmlformats.org/drawingml/2006/table">
            <a:tbl>
              <a:tblPr/>
              <a:tblGrid>
                <a:gridCol w="1126415">
                  <a:extLst>
                    <a:ext uri="{9D8B030D-6E8A-4147-A177-3AD203B41FA5}">
                      <a16:colId xmlns:a16="http://schemas.microsoft.com/office/drawing/2014/main" val="1052165937"/>
                    </a:ext>
                  </a:extLst>
                </a:gridCol>
                <a:gridCol w="2267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0483">
                  <a:extLst>
                    <a:ext uri="{9D8B030D-6E8A-4147-A177-3AD203B41FA5}">
                      <a16:colId xmlns:a16="http://schemas.microsoft.com/office/drawing/2014/main" val="757109799"/>
                    </a:ext>
                  </a:extLst>
                </a:gridCol>
                <a:gridCol w="905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9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79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Product_ID</a:t>
                      </a:r>
                      <a:endParaRPr lang="en-IN" sz="1300" b="1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E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Product_Name</a:t>
                      </a:r>
                      <a:endParaRPr lang="en-IN" sz="1300" b="1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E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Intercept_a</a:t>
                      </a:r>
                      <a:endParaRPr lang="en-IN" sz="1300" b="1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E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Beta_b</a:t>
                      </a:r>
                      <a:endParaRPr lang="en-IN" sz="1300" b="1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E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R_squared</a:t>
                      </a:r>
                      <a:endParaRPr lang="en-IN" sz="1300" b="1" i="0" u="none" strike="noStrike" dirty="0">
                        <a:solidFill>
                          <a:schemeClr val="bg1"/>
                        </a:solidFill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E3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1" i="0" u="none" strike="noStrike" dirty="0">
                          <a:solidFill>
                            <a:schemeClr val="bg1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Elasticity_Type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P103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VoltTech Headphones X3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31.729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-4.0368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0.1908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Elastic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P301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ClearView TV X7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15.8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-1.31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0.1258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Elastic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P203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NovaSound Headphones X6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14.8928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-1.3037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0.1962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Elastic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P201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NovaSound TV X4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15.9226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-1.2026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0.0402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Elastic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P202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NovaSound Laptop X5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13.6507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-0.8401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0.0394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Inelastic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P302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ClearView Laptop X8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13.0438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-0.8215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0.0842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Inelastic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P303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ClearView Headphones X9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11.3272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-0.7591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0.0312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Inelastic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P102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VoltTech Laptop X2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11.9412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-0.5556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0.0017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Inelastic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2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P101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VoltTech TV X1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10.3117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-0.3406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0.0011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Inelastic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48044" y="2240280"/>
            <a:ext cx="3815354" cy="3931920"/>
          </a:xfrm>
          <a:prstGeom prst="rect">
            <a:avLst/>
          </a:prstGeom>
          <a:solidFill>
            <a:srgbClr val="3A122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8423564" y="2331720"/>
            <a:ext cx="3330355" cy="37227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Key Findings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4 products are price-elastic </a:t>
            </a:r>
            <a:r>
              <a:rPr lang="en-US" sz="1400" dirty="0">
                <a:solidFill>
                  <a:srgbClr val="F7EFE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(β &lt; −1) — mostly Headphones &amp; TVs. A price cut meaningfully lifts their volume.
</a:t>
            </a: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5 products are inelastic </a:t>
            </a:r>
            <a:r>
              <a:rPr lang="en-US" sz="1400" dirty="0">
                <a:solidFill>
                  <a:srgbClr val="F7EFE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— notably both VoltTech Laptop X2 and TV X1, the brand's top revenue earners.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Recommendation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Promote the elastic products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Avoid deep discounts on inelastic products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Prioritize promotions by ROI, not by discount depth </a:t>
            </a:r>
            <a:r>
              <a:rPr lang="en-US" sz="140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.</a:t>
            </a:r>
            <a:endParaRPr lang="en-US" sz="14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&amp; Brand Insights</a:t>
            </a:r>
            <a:endParaRPr lang="en-US" sz="2800" dirty="0">
              <a:solidFill>
                <a:srgbClr val="660033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75488" y="1435608"/>
            <a:ext cx="7370064" cy="4041108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pt_assets/produ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08760"/>
            <a:ext cx="7223760" cy="38948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01000" y="1920240"/>
            <a:ext cx="3657600" cy="33306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Key Findings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Value leader: </a:t>
            </a:r>
            <a:r>
              <a:rPr lang="en-US" sz="1600" dirty="0">
                <a:solidFill>
                  <a:srgbClr val="5B5B5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VoltTech Laptop X2 — ₹25.2 crore revenue
</a:t>
            </a:r>
            <a:r>
              <a:rPr lang="en-US" sz="1600" b="1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Volume leader: </a:t>
            </a:r>
            <a:r>
              <a:rPr lang="en-US" sz="1600" dirty="0">
                <a:solidFill>
                  <a:srgbClr val="5B5B5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ClearView Headphones X9 — most units, but only ₹1.6 crore revenue
</a:t>
            </a:r>
            <a:r>
              <a:rPr lang="en-US" sz="1600" b="1" dirty="0">
                <a:solidFill>
                  <a:srgbClr val="C98A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Takeaway: </a:t>
            </a:r>
            <a:r>
              <a:rPr lang="en-US" sz="1600" i="1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the highest-volume product is not the highest-value one — it's the cheap, heavily discounted line.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PROMOTION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Elasticity &amp; Promotion Analysis</a:t>
            </a:r>
            <a:endParaRPr lang="en-US" sz="2800" dirty="0">
              <a:solidFill>
                <a:srgbClr val="660033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75488" y="1435608"/>
            <a:ext cx="7004304" cy="4887069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7635240" y="15544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7A1E3D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Key Findings 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635240" y="1920240"/>
            <a:ext cx="4227246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ClearView </a:t>
            </a:r>
            <a:r>
              <a:rPr lang="en-US" sz="1600" dirty="0">
                <a:solidFill>
                  <a:srgbClr val="5B5B5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(top-right) discounts 19-22% and gets the biggest uplift — but the lowest margins.
</a:t>
            </a:r>
            <a:r>
              <a:rPr lang="en-US" sz="1600" b="1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VoltTech </a:t>
            </a:r>
            <a:r>
              <a:rPr lang="en-US" sz="1600" dirty="0">
                <a:solidFill>
                  <a:srgbClr val="5B5B5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(bottom-left) barely responds to discounting at all.
</a:t>
            </a:r>
            <a:r>
              <a:rPr lang="en-US" sz="1600" b="1" dirty="0">
                <a:solidFill>
                  <a:srgbClr val="C98A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Matrix: </a:t>
            </a:r>
            <a:r>
              <a:rPr lang="en-US" sz="1600" i="1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pink rows = price-sensitive SKUs (β &lt; −1) — the best candidates for targeted promotions.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&amp; Price Elasticity Intelligence System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32D322-FCCE-ACF2-5966-95B4B387F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554480"/>
            <a:ext cx="6946392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STORE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Performance View</a:t>
            </a:r>
            <a:endParaRPr lang="en-US" sz="2800" dirty="0">
              <a:solidFill>
                <a:srgbClr val="660033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75488" y="1435608"/>
            <a:ext cx="7004304" cy="4997534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 txBox="1"/>
          <p:nvPr/>
        </p:nvSpPr>
        <p:spPr>
          <a:xfrm>
            <a:off x="7635240" y="15544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35240" y="1920240"/>
            <a:ext cx="4023360" cy="3718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Key Findings</a:t>
            </a:r>
          </a:p>
          <a:p>
            <a:pPr marL="0" indent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S001 &amp; S002 </a:t>
            </a:r>
            <a:r>
              <a:rPr lang="en-US" sz="1600" dirty="0">
                <a:solidFill>
                  <a:srgbClr val="5B5B5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(Large-format) drive ~67% of total revenue.
</a:t>
            </a:r>
            <a:r>
              <a:rPr lang="en-US" sz="1600" b="1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S003 </a:t>
            </a:r>
            <a:r>
              <a:rPr lang="en-US" sz="1600" dirty="0">
                <a:solidFill>
                  <a:srgbClr val="5B5B5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has the best margin at 44.1%.</a:t>
            </a:r>
          </a:p>
          <a:p>
            <a:endParaRPr lang="en-IN" sz="1600" b="1" dirty="0"/>
          </a:p>
          <a:p>
            <a:r>
              <a:rPr lang="en-IN" sz="1600" b="1" dirty="0">
                <a:latin typeface="Cambria" panose="02040503050406030204" pitchFamily="18" charset="0"/>
                <a:ea typeface="Cambria" panose="02040503050406030204" pitchFamily="18" charset="0"/>
              </a:rPr>
              <a:t>S004</a:t>
            </a:r>
            <a:r>
              <a:rPr lang="en-IN" sz="1600" dirty="0">
                <a:latin typeface="Cambria" panose="02040503050406030204" pitchFamily="18" charset="0"/>
                <a:ea typeface="Cambria" panose="02040503050406030204" pitchFamily="18" charset="0"/>
              </a:rPr>
              <a:t> sits in the middle on both sales (₹10.07 Cr) and margin (39.6%) — a stable, unremarkable performer</a:t>
            </a:r>
            <a:r>
              <a:rPr lang="en-IN" sz="1600" dirty="0"/>
              <a:t>.</a:t>
            </a:r>
            <a:r>
              <a:rPr lang="en-US" sz="1600" dirty="0">
                <a:solidFill>
                  <a:srgbClr val="5B5B5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
</a:t>
            </a:r>
            <a:r>
              <a:rPr lang="en-US" sz="1600" b="1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S005 </a:t>
            </a:r>
            <a:r>
              <a:rPr lang="en-US" sz="1600" i="1" dirty="0">
                <a:solidFill>
                  <a:srgbClr val="3A122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has the weakest margin (26.3%) but the strongest promo response — its discounting should be reviewed for cost, not just volume.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&amp; Price Elasticity Intelligence System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20F1D9-29F8-D422-8B4E-8C5671CD2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634" y="1602971"/>
            <a:ext cx="6381039" cy="43154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PROFITABILITY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Decomposition &amp; Top Performers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71780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PRODUCTS BY PROFIT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4468893"/>
              </p:ext>
            </p:extLst>
          </p:nvPr>
        </p:nvGraphicFramePr>
        <p:xfrm>
          <a:off x="6903720" y="1115568"/>
          <a:ext cx="4709160" cy="1353312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(₹)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VoltTech Laptop X2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11,14,16,914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VoltTech TV X1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7,15,85,233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NovaSound Laptop X5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5,42,90,098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972300" y="2624081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STORES BY SALES UPLIFT</a:t>
            </a:r>
            <a:endParaRPr lang="en-US" sz="11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2790172"/>
              </p:ext>
            </p:extLst>
          </p:nvPr>
        </p:nvGraphicFramePr>
        <p:xfrm>
          <a:off x="6926580" y="3127001"/>
          <a:ext cx="4709160" cy="1353312"/>
        </p:xfrm>
        <a:graphic>
          <a:graphicData uri="http://schemas.openxmlformats.org/drawingml/2006/table">
            <a:tbl>
              <a:tblPr/>
              <a:tblGrid>
                <a:gridCol w="3063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E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Uplift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1E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58.92%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42.84%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38.74%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3D6A45F7-BDDB-2DC6-8588-B61196C240F9}"/>
              </a:ext>
            </a:extLst>
          </p:cNvPr>
          <p:cNvGrpSpPr/>
          <p:nvPr/>
        </p:nvGrpSpPr>
        <p:grpSpPr>
          <a:xfrm>
            <a:off x="73152" y="5943600"/>
            <a:ext cx="4709160" cy="914400"/>
            <a:chOff x="6949440" y="5349240"/>
            <a:chExt cx="4709160" cy="914400"/>
          </a:xfrm>
        </p:grpSpPr>
        <p:sp>
          <p:nvSpPr>
            <p:cNvPr id="11" name="Shape 6"/>
            <p:cNvSpPr/>
            <p:nvPr/>
          </p:nvSpPr>
          <p:spPr>
            <a:xfrm>
              <a:off x="6949440" y="5349240"/>
              <a:ext cx="4709160" cy="914400"/>
            </a:xfrm>
            <a:prstGeom prst="rect">
              <a:avLst/>
            </a:prstGeom>
            <a:solidFill>
              <a:srgbClr val="F7EFE9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 7"/>
            <p:cNvSpPr txBox="1"/>
            <p:nvPr/>
          </p:nvSpPr>
          <p:spPr>
            <a:xfrm>
              <a:off x="7132320" y="5394960"/>
              <a:ext cx="434340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3A122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Profit is concentrated in the Store → Brand → Product path led by S002 → VoltTech → Laptop X2.</a:t>
              </a:r>
              <a:endParaRPr lang="en-US" sz="1100" dirty="0"/>
            </a:p>
          </p:txBody>
        </p:sp>
      </p:grpSp>
      <p:sp>
        <p:nvSpPr>
          <p:cNvPr id="14" name="Text 9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AA8A42B-8FA0-7537-A8A8-C74527B23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460232"/>
            <a:ext cx="5562600" cy="43586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9C62B56-420B-1A65-9558-2CE8C393AAC2}"/>
              </a:ext>
            </a:extLst>
          </p:cNvPr>
          <p:cNvSpPr txBox="1"/>
          <p:nvPr/>
        </p:nvSpPr>
        <p:spPr>
          <a:xfrm>
            <a:off x="6629400" y="4595589"/>
            <a:ext cx="5562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0"/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Key Findings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S002 → VoltTech → Laptop X2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 is the single biggest profit chain — ₹8.41 crore from this one path alone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VoltTech dominates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 — it holds 2 of the top 3 products by profit (Laptop X2 and TV X1)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43% of VoltTech Laptop X2's profit comes at full MRP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 — no discount needed to earn it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IN" sz="1400" b="1" dirty="0">
                <a:latin typeface="Cambria" panose="02040503050406030204" pitchFamily="18" charset="0"/>
                <a:ea typeface="Cambria" panose="02040503050406030204" pitchFamily="18" charset="0"/>
              </a:rPr>
              <a:t>S005 has the lowest sales but the highest promo uplift (58.92%)</a:t>
            </a:r>
            <a:r>
              <a:rPr lang="en-IN" sz="1400" dirty="0">
                <a:latin typeface="Cambria" panose="02040503050406030204" pitchFamily="18" charset="0"/>
                <a:ea typeface="Cambria" panose="02040503050406030204" pitchFamily="18" charset="0"/>
              </a:rPr>
              <a:t> — its growth depends on discounting, not organic demand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30352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Overview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&amp; Price Elasticity Intelligence System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39A814-7330-E9B0-DB69-7F1206066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3272"/>
            <a:ext cx="11970327" cy="555040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58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60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INSIGHTS</a:t>
            </a:r>
            <a:endParaRPr lang="en-US" sz="1200" dirty="0">
              <a:solidFill>
                <a:srgbClr val="660033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7205610" y="233767"/>
            <a:ext cx="34165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A12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884750"/>
              </p:ext>
            </p:extLst>
          </p:nvPr>
        </p:nvGraphicFramePr>
        <p:xfrm>
          <a:off x="5863818" y="1073204"/>
          <a:ext cx="5867934" cy="4676442"/>
        </p:xfrm>
        <a:graphic>
          <a:graphicData uri="http://schemas.openxmlformats.org/drawingml/2006/table">
            <a:tbl>
              <a:tblPr/>
              <a:tblGrid>
                <a:gridCol w="15033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4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84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99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48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940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/ Brand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Units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Revenue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Profit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2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94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A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VoltTech TV X1 / Laptop X2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-5% to -7%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-13% to -17%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3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promoting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94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A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VoltTech Headphones X3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94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A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NovaSound Headphones X6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7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Continue, shallow discount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2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94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A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NovaSound TV X4 / Laptop X5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+22-24%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+2-3%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98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depth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940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A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ClearView (all 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+64-96%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+15-29%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-39% to -54%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98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 discount depth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0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10311" y="5999678"/>
            <a:ext cx="11521441" cy="734736"/>
          </a:xfrm>
          <a:prstGeom prst="rect">
            <a:avLst/>
          </a:prstGeom>
          <a:solidFill>
            <a:srgbClr val="3A1220"/>
          </a:solidFill>
          <a:ln/>
        </p:spPr>
        <p:txBody>
          <a:bodyPr/>
          <a:lstStyle/>
          <a:p>
            <a:r>
              <a:rPr lang="en-US" sz="1200" b="1" kern="0" spc="10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200" dirty="0"/>
          </a:p>
          <a:p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this data, no product's promotions raise weekly profit. Promotions lift units (~+36%/week) but barely move revenue (~+1%/week), while weekly profit falls ~23%. Keep promotions only for share/volume goals, limit them to elastic SKUs at shallow tiers, and stop deep discounting on VoltTech's Laptop and TV.</a:t>
            </a:r>
            <a:endParaRPr lang="en-US" sz="1200" dirty="0"/>
          </a:p>
          <a:p>
            <a:endParaRPr lang="en-IN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F571FB2-F654-508E-55DB-A23C41F73617}"/>
              </a:ext>
            </a:extLst>
          </p:cNvPr>
          <p:cNvGrpSpPr/>
          <p:nvPr/>
        </p:nvGrpSpPr>
        <p:grpSpPr>
          <a:xfrm>
            <a:off x="356894" y="1091473"/>
            <a:ext cx="4970635" cy="986935"/>
            <a:chOff x="548640" y="1691640"/>
            <a:chExt cx="5120640" cy="2213897"/>
          </a:xfrm>
        </p:grpSpPr>
        <p:sp>
          <p:nvSpPr>
            <p:cNvPr id="10" name="Shape 3">
              <a:extLst>
                <a:ext uri="{FF2B5EF4-FFF2-40B4-BE49-F238E27FC236}">
                  <a16:creationId xmlns:a16="http://schemas.microsoft.com/office/drawing/2014/main" id="{209DDA99-521F-652F-ED56-60DC92C99241}"/>
                </a:ext>
              </a:extLst>
            </p:cNvPr>
            <p:cNvSpPr/>
            <p:nvPr/>
          </p:nvSpPr>
          <p:spPr>
            <a:xfrm>
              <a:off x="548640" y="1756697"/>
              <a:ext cx="91440" cy="2148840"/>
            </a:xfrm>
            <a:prstGeom prst="rect">
              <a:avLst/>
            </a:prstGeom>
            <a:solidFill>
              <a:srgbClr val="7A1E3D"/>
            </a:solidFill>
            <a:ln/>
          </p:spPr>
          <p:txBody>
            <a:bodyPr/>
            <a:lstStyle/>
            <a:p>
              <a:endParaRPr lang="en-IN" sz="1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1" name="Text 4">
              <a:extLst>
                <a:ext uri="{FF2B5EF4-FFF2-40B4-BE49-F238E27FC236}">
                  <a16:creationId xmlns:a16="http://schemas.microsoft.com/office/drawing/2014/main" id="{F6FD14F7-AC79-265C-F2EE-9003D1D2F566}"/>
                </a:ext>
              </a:extLst>
            </p:cNvPr>
            <p:cNvSpPr txBox="1"/>
            <p:nvPr/>
          </p:nvSpPr>
          <p:spPr>
            <a:xfrm>
              <a:off x="868680" y="1691640"/>
              <a:ext cx="4800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3A122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itchFamily="34" charset="-120"/>
                </a:rPr>
                <a:t>Sales &amp; Promotion Behavior</a:t>
              </a:r>
              <a:endParaRPr lang="en-US" sz="12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2" name="Text 5">
              <a:extLst>
                <a:ext uri="{FF2B5EF4-FFF2-40B4-BE49-F238E27FC236}">
                  <a16:creationId xmlns:a16="http://schemas.microsoft.com/office/drawing/2014/main" id="{05A88AB5-23A7-F8F8-9DEA-8E6F50AB0691}"/>
                </a:ext>
              </a:extLst>
            </p:cNvPr>
            <p:cNvSpPr txBox="1"/>
            <p:nvPr/>
          </p:nvSpPr>
          <p:spPr>
            <a:xfrm>
              <a:off x="868680" y="2148840"/>
              <a:ext cx="4800600" cy="13258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342900" indent="-342900">
                <a:lnSpc>
                  <a:spcPts val="1700"/>
                </a:lnSpc>
                <a:spcAft>
                  <a:spcPts val="800"/>
                </a:spcAft>
                <a:buSzPct val="100000"/>
                <a:buChar char="–"/>
              </a:pPr>
              <a:r>
                <a:rPr lang="en-US" sz="1200" dirty="0">
                  <a:solidFill>
                    <a:srgbClr val="5B5B5B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 pitchFamily="34" charset="-120"/>
                </a:rPr>
                <a:t>Promotions lift units ~36%/week, but revenue rises only ~1%/week</a:t>
              </a:r>
              <a:endParaRPr lang="en-US" sz="12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marL="342900" indent="-342900">
                <a:lnSpc>
                  <a:spcPts val="1700"/>
                </a:lnSpc>
                <a:spcAft>
                  <a:spcPts val="800"/>
                </a:spcAft>
                <a:buSzPct val="100000"/>
                <a:buChar char="–"/>
              </a:pPr>
              <a:r>
                <a:rPr lang="en-US" sz="1200" dirty="0">
                  <a:solidFill>
                    <a:srgbClr val="5B5B5B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 pitchFamily="34" charset="-120"/>
                </a:rPr>
                <a:t>Weekly profit falls ~23% during promotions; margin drops 45.8% → 34.9%</a:t>
              </a:r>
              <a:endParaRPr lang="en-US" sz="12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60745E9-B7DA-C724-44FD-7F20F359804B}"/>
              </a:ext>
            </a:extLst>
          </p:cNvPr>
          <p:cNvGrpSpPr/>
          <p:nvPr/>
        </p:nvGrpSpPr>
        <p:grpSpPr>
          <a:xfrm>
            <a:off x="372686" y="2329988"/>
            <a:ext cx="5491132" cy="966942"/>
            <a:chOff x="6293998" y="1691640"/>
            <a:chExt cx="5090282" cy="2331720"/>
          </a:xfrm>
        </p:grpSpPr>
        <p:sp>
          <p:nvSpPr>
            <p:cNvPr id="15" name="Shape 7">
              <a:extLst>
                <a:ext uri="{FF2B5EF4-FFF2-40B4-BE49-F238E27FC236}">
                  <a16:creationId xmlns:a16="http://schemas.microsoft.com/office/drawing/2014/main" id="{A9687C0A-D332-9B66-6352-57E359CCA8BA}"/>
                </a:ext>
              </a:extLst>
            </p:cNvPr>
            <p:cNvSpPr/>
            <p:nvPr/>
          </p:nvSpPr>
          <p:spPr>
            <a:xfrm>
              <a:off x="6293998" y="1874520"/>
              <a:ext cx="91440" cy="2148840"/>
            </a:xfrm>
            <a:prstGeom prst="rect">
              <a:avLst/>
            </a:prstGeom>
            <a:solidFill>
              <a:srgbClr val="B23A5C"/>
            </a:solidFill>
            <a:ln/>
          </p:spPr>
          <p:txBody>
            <a:bodyPr/>
            <a:lstStyle/>
            <a:p>
              <a:endParaRPr lang="en-IN" sz="1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6" name="Text 8">
              <a:extLst>
                <a:ext uri="{FF2B5EF4-FFF2-40B4-BE49-F238E27FC236}">
                  <a16:creationId xmlns:a16="http://schemas.microsoft.com/office/drawing/2014/main" id="{E9C2FE4F-F142-B082-66A9-358A0EAFDD9D}"/>
                </a:ext>
              </a:extLst>
            </p:cNvPr>
            <p:cNvSpPr txBox="1"/>
            <p:nvPr/>
          </p:nvSpPr>
          <p:spPr>
            <a:xfrm>
              <a:off x="6583680" y="1691640"/>
              <a:ext cx="48006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3A122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itchFamily="34" charset="-120"/>
                </a:rPr>
                <a:t>Price Elasticity</a:t>
              </a:r>
              <a:endParaRPr lang="en-US" sz="12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17" name="Text 9">
              <a:extLst>
                <a:ext uri="{FF2B5EF4-FFF2-40B4-BE49-F238E27FC236}">
                  <a16:creationId xmlns:a16="http://schemas.microsoft.com/office/drawing/2014/main" id="{4F539E24-994B-2ABC-75DC-FF890E4DA94F}"/>
                </a:ext>
              </a:extLst>
            </p:cNvPr>
            <p:cNvSpPr txBox="1"/>
            <p:nvPr/>
          </p:nvSpPr>
          <p:spPr>
            <a:xfrm>
              <a:off x="6583680" y="2148840"/>
              <a:ext cx="4800600" cy="13258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342900" indent="-342900">
                <a:lnSpc>
                  <a:spcPts val="1700"/>
                </a:lnSpc>
                <a:spcAft>
                  <a:spcPts val="800"/>
                </a:spcAft>
                <a:buSzPct val="100000"/>
                <a:buChar char="–"/>
              </a:pPr>
              <a:r>
                <a:rPr lang="en-US" sz="1200" dirty="0">
                  <a:solidFill>
                    <a:srgbClr val="5B5B5B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 pitchFamily="34" charset="-120"/>
                </a:rPr>
                <a:t>4 of 9 products are elastic (β &lt; −1) — respond well to discounting</a:t>
              </a:r>
              <a:endParaRPr lang="en-US" sz="12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marL="342900" indent="-342900">
                <a:lnSpc>
                  <a:spcPts val="1700"/>
                </a:lnSpc>
                <a:spcAft>
                  <a:spcPts val="800"/>
                </a:spcAft>
                <a:buSzPct val="100000"/>
                <a:buChar char="–"/>
              </a:pPr>
              <a:r>
                <a:rPr lang="en-US" sz="1200" dirty="0">
                  <a:solidFill>
                    <a:srgbClr val="5B5B5B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 pitchFamily="34" charset="-120"/>
                </a:rPr>
                <a:t>5 of 9 are inelastic, incl. VoltTech's two biggest earners (Laptop X2, TV X1)</a:t>
              </a:r>
              <a:endParaRPr lang="en-US" sz="12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58B2EEA-6626-42F7-43DD-024EAD7D1762}"/>
              </a:ext>
            </a:extLst>
          </p:cNvPr>
          <p:cNvGrpSpPr/>
          <p:nvPr/>
        </p:nvGrpSpPr>
        <p:grpSpPr>
          <a:xfrm>
            <a:off x="369340" y="3487077"/>
            <a:ext cx="5494478" cy="842964"/>
            <a:chOff x="548640" y="3931920"/>
            <a:chExt cx="5120640" cy="2148840"/>
          </a:xfrm>
        </p:grpSpPr>
        <p:sp>
          <p:nvSpPr>
            <p:cNvPr id="28" name="Shape 11">
              <a:extLst>
                <a:ext uri="{FF2B5EF4-FFF2-40B4-BE49-F238E27FC236}">
                  <a16:creationId xmlns:a16="http://schemas.microsoft.com/office/drawing/2014/main" id="{EB1F8F0C-791E-B0BB-9EC2-AD09200DCEA3}"/>
                </a:ext>
              </a:extLst>
            </p:cNvPr>
            <p:cNvSpPr/>
            <p:nvPr/>
          </p:nvSpPr>
          <p:spPr>
            <a:xfrm>
              <a:off x="548640" y="3931920"/>
              <a:ext cx="91440" cy="2148840"/>
            </a:xfrm>
            <a:prstGeom prst="rect">
              <a:avLst/>
            </a:prstGeom>
            <a:solidFill>
              <a:srgbClr val="C98A3B"/>
            </a:solidFill>
            <a:ln/>
          </p:spPr>
          <p:txBody>
            <a:bodyPr/>
            <a:lstStyle/>
            <a:p>
              <a:endParaRPr lang="en-IN" sz="1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29" name="Text 12">
              <a:extLst>
                <a:ext uri="{FF2B5EF4-FFF2-40B4-BE49-F238E27FC236}">
                  <a16:creationId xmlns:a16="http://schemas.microsoft.com/office/drawing/2014/main" id="{38381D27-6DD0-5FCE-FE5E-D8C5D83C3381}"/>
                </a:ext>
              </a:extLst>
            </p:cNvPr>
            <p:cNvSpPr txBox="1"/>
            <p:nvPr/>
          </p:nvSpPr>
          <p:spPr>
            <a:xfrm>
              <a:off x="868680" y="4114801"/>
              <a:ext cx="4800600" cy="36575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3A122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itchFamily="34" charset="-120"/>
                </a:rPr>
                <a:t>Brand &amp; Product Performance</a:t>
              </a:r>
              <a:endParaRPr lang="en-US" sz="12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30" name="Text 13">
              <a:extLst>
                <a:ext uri="{FF2B5EF4-FFF2-40B4-BE49-F238E27FC236}">
                  <a16:creationId xmlns:a16="http://schemas.microsoft.com/office/drawing/2014/main" id="{BE80931B-ED77-1A62-7077-1B4508BB07DC}"/>
                </a:ext>
              </a:extLst>
            </p:cNvPr>
            <p:cNvSpPr txBox="1"/>
            <p:nvPr/>
          </p:nvSpPr>
          <p:spPr>
            <a:xfrm>
              <a:off x="868680" y="4572000"/>
              <a:ext cx="4800600" cy="13258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342900" indent="-342900">
                <a:lnSpc>
                  <a:spcPts val="1700"/>
                </a:lnSpc>
                <a:spcAft>
                  <a:spcPts val="800"/>
                </a:spcAft>
                <a:buSzPct val="100000"/>
                <a:buChar char="–"/>
              </a:pPr>
              <a:r>
                <a:rPr lang="en-US" sz="1200" dirty="0">
                  <a:solidFill>
                    <a:srgbClr val="5B5B5B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 pitchFamily="34" charset="-120"/>
                </a:rPr>
                <a:t>VoltTech Laptop X2 is the top performer — ₹25.2 Cr revenue, 43% at full MRP</a:t>
              </a:r>
              <a:endParaRPr lang="en-US" sz="12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marL="342900" indent="-342900">
                <a:lnSpc>
                  <a:spcPts val="1700"/>
                </a:lnSpc>
                <a:spcAft>
                  <a:spcPts val="800"/>
                </a:spcAft>
                <a:buSzPct val="100000"/>
                <a:buChar char="–"/>
              </a:pPr>
              <a:r>
                <a:rPr lang="en-US" sz="1200" dirty="0">
                  <a:solidFill>
                    <a:srgbClr val="5B5B5B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 pitchFamily="34" charset="-120"/>
                </a:rPr>
                <a:t>ClearView discounts deepest (19-22%) but has the lowest margins of any brand</a:t>
              </a:r>
              <a:endParaRPr lang="en-US" sz="12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0066405-9797-17CF-B646-D562BF177C90}"/>
              </a:ext>
            </a:extLst>
          </p:cNvPr>
          <p:cNvGrpSpPr/>
          <p:nvPr/>
        </p:nvGrpSpPr>
        <p:grpSpPr>
          <a:xfrm>
            <a:off x="369340" y="4779248"/>
            <a:ext cx="5383641" cy="842964"/>
            <a:chOff x="548640" y="3931920"/>
            <a:chExt cx="5120640" cy="2148840"/>
          </a:xfrm>
        </p:grpSpPr>
        <p:sp>
          <p:nvSpPr>
            <p:cNvPr id="44" name="Shape 11">
              <a:extLst>
                <a:ext uri="{FF2B5EF4-FFF2-40B4-BE49-F238E27FC236}">
                  <a16:creationId xmlns:a16="http://schemas.microsoft.com/office/drawing/2014/main" id="{A90BBF63-132C-3498-A2A3-356D99413D27}"/>
                </a:ext>
              </a:extLst>
            </p:cNvPr>
            <p:cNvSpPr/>
            <p:nvPr/>
          </p:nvSpPr>
          <p:spPr>
            <a:xfrm>
              <a:off x="548640" y="3931920"/>
              <a:ext cx="91440" cy="2148840"/>
            </a:xfrm>
            <a:prstGeom prst="rect">
              <a:avLst/>
            </a:prstGeom>
            <a:solidFill>
              <a:srgbClr val="C98A3B"/>
            </a:solidFill>
            <a:ln/>
          </p:spPr>
          <p:txBody>
            <a:bodyPr/>
            <a:lstStyle/>
            <a:p>
              <a:endParaRPr lang="en-IN" sz="120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5" name="Text 12">
              <a:extLst>
                <a:ext uri="{FF2B5EF4-FFF2-40B4-BE49-F238E27FC236}">
                  <a16:creationId xmlns:a16="http://schemas.microsoft.com/office/drawing/2014/main" id="{BC518E83-AE62-EA52-F0DA-0E3DAE40A349}"/>
                </a:ext>
              </a:extLst>
            </p:cNvPr>
            <p:cNvSpPr txBox="1"/>
            <p:nvPr/>
          </p:nvSpPr>
          <p:spPr>
            <a:xfrm>
              <a:off x="868680" y="4114801"/>
              <a:ext cx="4800600" cy="36575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b="1" dirty="0">
                  <a:solidFill>
                    <a:srgbClr val="3A1220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mbria" pitchFamily="34" charset="-120"/>
                </a:rPr>
                <a:t>Store Performance</a:t>
              </a:r>
              <a:endParaRPr lang="en-US" sz="12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sp>
          <p:nvSpPr>
            <p:cNvPr id="46" name="Text 13">
              <a:extLst>
                <a:ext uri="{FF2B5EF4-FFF2-40B4-BE49-F238E27FC236}">
                  <a16:creationId xmlns:a16="http://schemas.microsoft.com/office/drawing/2014/main" id="{13606F06-D3ED-3065-06F9-8AE518A456B8}"/>
                </a:ext>
              </a:extLst>
            </p:cNvPr>
            <p:cNvSpPr txBox="1"/>
            <p:nvPr/>
          </p:nvSpPr>
          <p:spPr>
            <a:xfrm>
              <a:off x="868680" y="4572000"/>
              <a:ext cx="4800600" cy="13258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342900" indent="-342900">
                <a:lnSpc>
                  <a:spcPts val="1700"/>
                </a:lnSpc>
                <a:spcAft>
                  <a:spcPts val="800"/>
                </a:spcAft>
                <a:buSzPct val="100000"/>
                <a:buChar char="–"/>
              </a:pPr>
              <a:r>
                <a:rPr lang="en-US" sz="1200" dirty="0">
                  <a:solidFill>
                    <a:srgbClr val="5B5B5B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 pitchFamily="34" charset="-120"/>
                </a:rPr>
                <a:t>S001 &amp; S002 drive ~67% of total revenue</a:t>
              </a:r>
              <a:endParaRPr lang="en-US" sz="12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  <a:p>
              <a:pPr marL="342900" indent="-342900">
                <a:lnSpc>
                  <a:spcPts val="1700"/>
                </a:lnSpc>
                <a:spcAft>
                  <a:spcPts val="800"/>
                </a:spcAft>
                <a:buSzPct val="100000"/>
                <a:buChar char="–"/>
              </a:pPr>
              <a:r>
                <a:rPr lang="en-US" sz="1200" dirty="0">
                  <a:solidFill>
                    <a:srgbClr val="5B5B5B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Calibri" pitchFamily="34" charset="-120"/>
                </a:rPr>
                <a:t>S003 has the best margin (44.1%); S005 the weakest (26.3%) but strongest uplift (58.9%) </a:t>
              </a:r>
              <a:endParaRPr lang="en-US" sz="1200" dirty="0"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</p:grpSp>
      <p:sp>
        <p:nvSpPr>
          <p:cNvPr id="48" name="Text 1">
            <a:extLst>
              <a:ext uri="{FF2B5EF4-FFF2-40B4-BE49-F238E27FC236}">
                <a16:creationId xmlns:a16="http://schemas.microsoft.com/office/drawing/2014/main" id="{901C0C01-DA4E-0717-CA43-C76B4FDF0C47}"/>
              </a:ext>
            </a:extLst>
          </p:cNvPr>
          <p:cNvSpPr txBox="1"/>
          <p:nvPr/>
        </p:nvSpPr>
        <p:spPr>
          <a:xfrm>
            <a:off x="320335" y="343888"/>
            <a:ext cx="3416531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60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800" dirty="0">
              <a:solidFill>
                <a:srgbClr val="660033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6269" y="1463040"/>
            <a:ext cx="4114800" cy="4114800"/>
          </a:xfrm>
          <a:prstGeom prst="ellipse">
            <a:avLst/>
          </a:prstGeom>
          <a:solidFill>
            <a:srgbClr val="7A1E3D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3060469" y="327244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1639</TotalTime>
  <Words>1771</Words>
  <Application>Microsoft Office PowerPoint</Application>
  <PresentationFormat>Widescreen</PresentationFormat>
  <Paragraphs>307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t22566</cp:lastModifiedBy>
  <cp:revision>85</cp:revision>
  <dcterms:created xsi:type="dcterms:W3CDTF">2026-09-29T08:26:11Z</dcterms:created>
  <dcterms:modified xsi:type="dcterms:W3CDTF">2026-10-08T06:25:15Z</dcterms:modified>
</cp:coreProperties>
</file>